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Sora SemiBold"/>
      <p:regular r:id="rId17"/>
    </p:embeddedFont>
    <p:embeddedFont>
      <p:font typeface="Sora Light"/>
      <p:regular r:id="rId18"/>
    </p:embeddedFont>
    <p:embeddedFont>
      <p:font typeface="Sora Bold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3943" y="1984846"/>
            <a:ext cx="1413793" cy="254422"/>
          </a:xfrm>
          <a:prstGeom prst="roundRect">
            <a:avLst>
              <a:gd name="adj" fmla="val 17883"/>
            </a:avLst>
          </a:prstGeom>
          <a:solidFill>
            <a:srgbClr val="F9D2D6"/>
          </a:solidFill>
          <a:ln/>
        </p:spPr>
      </p:sp>
      <p:sp>
        <p:nvSpPr>
          <p:cNvPr id="3" name="Text 1"/>
          <p:cNvSpPr/>
          <p:nvPr/>
        </p:nvSpPr>
        <p:spPr>
          <a:xfrm>
            <a:off x="555129" y="2025402"/>
            <a:ext cx="1708621" cy="173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ANALYTICS PLATFORM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3943" y="2293367"/>
            <a:ext cx="5179219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Consumer360 Dashboard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73943" y="2941886"/>
            <a:ext cx="8653314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Unified customer intelligence — revenue, retention, and segmentation in one view.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6502" y="410170"/>
            <a:ext cx="890215" cy="258663"/>
          </a:xfrm>
          <a:prstGeom prst="roundRect">
            <a:avLst>
              <a:gd name="adj" fmla="val 17315"/>
            </a:avLst>
          </a:prstGeom>
          <a:noFill/>
          <a:ln w="4763">
            <a:solidFill>
              <a:srgbClr val="DA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1185" y="454893"/>
            <a:ext cx="1178049" cy="169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800" dirty="0">
                <a:solidFill>
                  <a:srgbClr val="DA1B2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DASHBOARD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66502" y="721296"/>
            <a:ext cx="3480346" cy="350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Dashboard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66502" y="1335360"/>
            <a:ext cx="4023494" cy="351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$2.8M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1601316" y="1852240"/>
            <a:ext cx="1753865" cy="219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Total Revenue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654004" y="1335360"/>
            <a:ext cx="4023494" cy="293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3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15,847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5788819" y="1793602"/>
            <a:ext cx="1753865" cy="219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New Customers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66502" y="2400449"/>
            <a:ext cx="4023494" cy="351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68.4%</a:t>
            </a:r>
            <a:endParaRPr lang="en-US" sz="2750" dirty="0"/>
          </a:p>
        </p:txBody>
      </p:sp>
      <p:sp>
        <p:nvSpPr>
          <p:cNvPr id="10" name="Text 8"/>
          <p:cNvSpPr/>
          <p:nvPr/>
        </p:nvSpPr>
        <p:spPr>
          <a:xfrm>
            <a:off x="1601316" y="2917329"/>
            <a:ext cx="1753865" cy="219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Retention Rate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54004" y="2400449"/>
            <a:ext cx="4023494" cy="251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9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$179.60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5689178" y="2816796"/>
            <a:ext cx="1953071" cy="219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Avg Revenue Per User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6502" y="3333304"/>
            <a:ext cx="2211065" cy="219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Key Alerts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6502" y="3749278"/>
            <a:ext cx="8210996" cy="983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2000"/>
              </a:lnSpc>
              <a:buSzPct val="100000"/>
              <a:buChar char="•"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AI Risk segment up </a:t>
            </a:r>
            <a:pPr algn="l" marL="342900" indent="-342900">
              <a:lnSpc>
                <a:spcPct val="132000"/>
              </a:lnSpc>
              <a:buSzPct val="100000"/>
              <a:buChar char="•"/>
            </a:pPr>
            <a:r>
              <a:rPr lang="en-US" sz="10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6.5%</a:t>
            </a:r>
            <a:pPr algn="l" marL="342900" indent="-342900">
              <a:lnSpc>
                <a:spcPct val="132000"/>
              </a:lnSpc>
              <a:buSzPct val="100000"/>
              <a:buChar char="•"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re-engagement recommended</a:t>
            </a:r>
            <a:endParaRPr lang="en-US" sz="1000" dirty="0"/>
          </a:p>
          <a:p>
            <a:pPr algn="l" marL="342900" indent="-342900">
              <a:lnSpc>
                <a:spcPct val="132000"/>
              </a:lnSpc>
              <a:buSzPct val="100000"/>
              <a:buChar char="•"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Champions revenue up </a:t>
            </a:r>
            <a:pPr algn="l" marL="342900" indent="-342900">
              <a:lnSpc>
                <a:spcPct val="132000"/>
              </a:lnSpc>
              <a:buSzPct val="100000"/>
              <a:buChar char="•"/>
            </a:pPr>
            <a:r>
              <a:rPr lang="en-US" sz="10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15.2%</a:t>
            </a:r>
            <a:pPr algn="l" marL="342900" indent="-342900">
              <a:lnSpc>
                <a:spcPct val="132000"/>
              </a:lnSpc>
              <a:buSzPct val="100000"/>
              <a:buChar char="•"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loyalty program performing</a:t>
            </a:r>
            <a:endParaRPr lang="en-US" sz="1000" dirty="0"/>
          </a:p>
          <a:p>
            <a:pPr algn="l" marL="342900" indent="-342900">
              <a:lnSpc>
                <a:spcPct val="132000"/>
              </a:lnSpc>
              <a:buSzPct val="100000"/>
              <a:buChar char="•"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Churn segment increased </a:t>
            </a:r>
            <a:pPr algn="l" marL="342900" indent="-342900">
              <a:lnSpc>
                <a:spcPct val="132000"/>
              </a:lnSpc>
              <a:buSzPct val="100000"/>
              <a:buChar char="•"/>
            </a:pPr>
            <a:r>
              <a:rPr lang="en-US" sz="10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8.1%</a:t>
            </a:r>
            <a:pPr algn="l" marL="342900" indent="-342900">
              <a:lnSpc>
                <a:spcPct val="132000"/>
              </a:lnSpc>
              <a:buSzPct val="100000"/>
              <a:buChar char="•"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win-back needed</a:t>
            </a:r>
            <a:endParaRPr lang="en-US" sz="1000" dirty="0"/>
          </a:p>
          <a:p>
            <a:pPr algn="l" marL="342900" indent="-342900">
              <a:lnSpc>
                <a:spcPct val="132000"/>
              </a:lnSpc>
              <a:buSzPct val="100000"/>
              <a:buChar char="•"/>
            </a:pPr>
            <a:r>
              <a:rPr lang="en-US" sz="10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2,188 customers</a:t>
            </a:r>
            <a:pPr algn="l" marL="342900" indent="-342900">
              <a:lnSpc>
                <a:spcPct val="132000"/>
              </a:lnSpc>
              <a:buSzPct val="100000"/>
              <a:buChar char="•"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inactive 90+ days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7406" y="320576"/>
            <a:ext cx="710059" cy="174873"/>
          </a:xfrm>
          <a:prstGeom prst="roundRect">
            <a:avLst>
              <a:gd name="adj" fmla="val 18701"/>
            </a:avLst>
          </a:prstGeom>
          <a:noFill/>
          <a:ln w="4763">
            <a:solidFill>
              <a:srgbClr val="DA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0510" y="354509"/>
            <a:ext cx="1041053" cy="107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DA1B2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RFM ANALYSIS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1037406" y="523429"/>
            <a:ext cx="2506191" cy="25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RFM Segmentation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37406" y="2541463"/>
            <a:ext cx="1737792" cy="160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What is RFM?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37406" y="2771477"/>
            <a:ext cx="3050530" cy="401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Recency</a:t>
            </a:r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How recently a customer purchased. </a:t>
            </a:r>
            <a:pPr algn="l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Frequency</a:t>
            </a:r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How often they buy. </a:t>
            </a:r>
            <a:pPr algn="l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Monetary</a:t>
            </a:r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Total spend. Each scored 1–5 to rank customers.</a:t>
            </a:r>
            <a:endParaRPr lang="en-US" sz="7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0080" y="963141"/>
            <a:ext cx="3781127" cy="3781127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0080" y="963141"/>
            <a:ext cx="3781127" cy="37811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3943" y="408459"/>
            <a:ext cx="984870" cy="263947"/>
          </a:xfrm>
          <a:prstGeom prst="roundRect">
            <a:avLst>
              <a:gd name="adj" fmla="val 17238"/>
            </a:avLst>
          </a:prstGeom>
          <a:noFill/>
          <a:ln w="4763">
            <a:solidFill>
              <a:srgbClr val="DA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9891" y="453777"/>
            <a:ext cx="1270174" cy="173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DA1B2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RFM 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3943" y="726504"/>
            <a:ext cx="3728517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Segment Performance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73943" y="1421234"/>
            <a:ext cx="2285702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Segment Highlights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3943" y="1779240"/>
            <a:ext cx="3080147" cy="1875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0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Champions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2,847 customers, $882K revenue, 4.8 avg RFM</a:t>
            </a:r>
            <a:endParaRPr lang="en-US" sz="10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0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Loyal Customers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3,156 customers, $796K revenue, 4.2 avg RFM</a:t>
            </a:r>
            <a:endParaRPr lang="en-US" sz="10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0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At Risk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1,456 customers, $98K revenue, 1.8 avg RFM</a:t>
            </a:r>
            <a:endParaRPr lang="en-US" sz="10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0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Lost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537 customers, $23K revenue, 1.2 avg RFM</a:t>
            </a:r>
            <a:endParaRPr lang="en-US" sz="10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9251" y="1438201"/>
            <a:ext cx="4785494" cy="31444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4635" y="339403"/>
            <a:ext cx="1285949" cy="222721"/>
          </a:xfrm>
          <a:prstGeom prst="roundRect">
            <a:avLst>
              <a:gd name="adj" fmla="val 17875"/>
            </a:avLst>
          </a:prstGeom>
          <a:noFill/>
          <a:ln w="4763">
            <a:solidFill>
              <a:srgbClr val="DA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0463" y="379661"/>
            <a:ext cx="1591494" cy="142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DA1B2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CUSTOMER ANALYTICS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14635" y="603572"/>
            <a:ext cx="2951634" cy="311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Customer Profiles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414635" y="1174477"/>
            <a:ext cx="201617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Profile Metrics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4635" y="1485900"/>
            <a:ext cx="3152477" cy="722635"/>
          </a:xfrm>
          <a:prstGeom prst="roundRect">
            <a:avLst>
              <a:gd name="adj" fmla="val 6887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7865" y="1609130"/>
            <a:ext cx="155897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15,847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7865" y="1907604"/>
            <a:ext cx="2906018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Total Customers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4635" y="2312194"/>
            <a:ext cx="3152477" cy="722635"/>
          </a:xfrm>
          <a:prstGeom prst="roundRect">
            <a:avLst>
              <a:gd name="adj" fmla="val 6887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7865" y="2435423"/>
            <a:ext cx="155897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9,234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7865" y="2733898"/>
            <a:ext cx="2906018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Active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4635" y="3138488"/>
            <a:ext cx="3152477" cy="722635"/>
          </a:xfrm>
          <a:prstGeom prst="roundRect">
            <a:avLst>
              <a:gd name="adj" fmla="val 6887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7865" y="3261717"/>
            <a:ext cx="155897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$179.80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7865" y="3560192"/>
            <a:ext cx="2906018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Avg Order Value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4635" y="3964781"/>
            <a:ext cx="3152477" cy="722635"/>
          </a:xfrm>
          <a:prstGeom prst="roundRect">
            <a:avLst>
              <a:gd name="adj" fmla="val 6887"/>
            </a:avLst>
          </a:prstGeom>
          <a:solidFill>
            <a:srgbClr val="F9D2D6"/>
          </a:solidFill>
          <a:ln w="4763">
            <a:solidFill>
              <a:srgbClr val="DFB8B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7865" y="4088011"/>
            <a:ext cx="155897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$1,247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7865" y="4386486"/>
            <a:ext cx="2906018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Avg LTV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60899" y="1174477"/>
            <a:ext cx="2295153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Sample Customer Data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860899" y="1485900"/>
            <a:ext cx="4873228" cy="2767013"/>
          </a:xfrm>
          <a:prstGeom prst="roundRect">
            <a:avLst>
              <a:gd name="adj" fmla="val 179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65662" y="1490663"/>
            <a:ext cx="4863703" cy="31149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984129" y="1557561"/>
            <a:ext cx="1190625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Customer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59251" y="1557561"/>
            <a:ext cx="1431429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Segment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75177" y="1557561"/>
            <a:ext cx="118824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RFM Score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47917" y="1557561"/>
            <a:ext cx="1920180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Status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865662" y="1802160"/>
            <a:ext cx="4863703" cy="48919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984129" y="1869058"/>
            <a:ext cx="733425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Nathan Anderson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59251" y="1869058"/>
            <a:ext cx="1431429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New Customer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75177" y="1869058"/>
            <a:ext cx="118824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1.8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147917" y="1869058"/>
            <a:ext cx="1920180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Active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865662" y="2291358"/>
            <a:ext cx="4863703" cy="48919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984129" y="2358256"/>
            <a:ext cx="733425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Karen Thompson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59251" y="2358256"/>
            <a:ext cx="1431429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Loyal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75177" y="2358256"/>
            <a:ext cx="118824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1.2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147917" y="2358256"/>
            <a:ext cx="1920180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Inactive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865662" y="2780556"/>
            <a:ext cx="4863703" cy="48919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3984129" y="2847454"/>
            <a:ext cx="733425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Susanne Garcia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959251" y="2847454"/>
            <a:ext cx="1431429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New Customer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175177" y="2847454"/>
            <a:ext cx="118824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3.1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147917" y="2847454"/>
            <a:ext cx="1920180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Active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865662" y="3269754"/>
            <a:ext cx="4863703" cy="48919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3984129" y="3336652"/>
            <a:ext cx="733425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Angela Robinson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959251" y="3336652"/>
            <a:ext cx="1431429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Promising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175177" y="3336652"/>
            <a:ext cx="118824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2.8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147917" y="3336652"/>
            <a:ext cx="1920180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Active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865662" y="3758952"/>
            <a:ext cx="4863703" cy="48919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3984129" y="3825850"/>
            <a:ext cx="733425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William White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959251" y="3825850"/>
            <a:ext cx="1431429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Reactivating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175177" y="3825850"/>
            <a:ext cx="118824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1.1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147917" y="3825850"/>
            <a:ext cx="1920180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Inactive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6502" y="402803"/>
            <a:ext cx="1229692" cy="258663"/>
          </a:xfrm>
          <a:prstGeom prst="roundRect">
            <a:avLst>
              <a:gd name="adj" fmla="val 17315"/>
            </a:avLst>
          </a:prstGeom>
          <a:noFill/>
          <a:ln w="4763">
            <a:solidFill>
              <a:srgbClr val="DA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1185" y="447526"/>
            <a:ext cx="1517526" cy="169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800" dirty="0">
                <a:solidFill>
                  <a:srgbClr val="DA1B2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COHORT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66502" y="713929"/>
            <a:ext cx="3263429" cy="350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Retention Trends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502" y="1408956"/>
            <a:ext cx="4369668" cy="299888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66122" y="1392585"/>
            <a:ext cx="2503363" cy="219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Retention Benchmarks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166122" y="1759372"/>
            <a:ext cx="3516064" cy="857101"/>
          </a:xfrm>
          <a:prstGeom prst="roundRect">
            <a:avLst>
              <a:gd name="adj" fmla="val 8001"/>
            </a:avLst>
          </a:prstGeom>
          <a:solidFill>
            <a:srgbClr val="FFFFFF"/>
          </a:solidFill>
          <a:ln w="14288">
            <a:solidFill>
              <a:srgbClr val="DFB8B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151834" y="1759372"/>
            <a:ext cx="57150" cy="857101"/>
          </a:xfrm>
          <a:prstGeom prst="roundRect">
            <a:avLst>
              <a:gd name="adj" fmla="val 97962"/>
            </a:avLst>
          </a:prstGeom>
          <a:solidFill>
            <a:srgbClr val="DA1B2E"/>
          </a:solidFill>
          <a:ln/>
        </p:spPr>
      </p:sp>
      <p:sp>
        <p:nvSpPr>
          <p:cNvPr id="9" name="Text 6"/>
          <p:cNvSpPr/>
          <p:nvPr/>
        </p:nvSpPr>
        <p:spPr>
          <a:xfrm>
            <a:off x="5356547" y="1906935"/>
            <a:ext cx="1753865" cy="219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42.3%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356547" y="2257351"/>
            <a:ext cx="3178076" cy="211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Avg Month-1 Retention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166122" y="2747665"/>
            <a:ext cx="3516064" cy="857101"/>
          </a:xfrm>
          <a:prstGeom prst="roundRect">
            <a:avLst>
              <a:gd name="adj" fmla="val 8001"/>
            </a:avLst>
          </a:prstGeom>
          <a:solidFill>
            <a:srgbClr val="FFFFFF"/>
          </a:solidFill>
          <a:ln w="14288">
            <a:solidFill>
              <a:srgbClr val="DFB8B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151834" y="2747665"/>
            <a:ext cx="57150" cy="857101"/>
          </a:xfrm>
          <a:prstGeom prst="roundRect">
            <a:avLst>
              <a:gd name="adj" fmla="val 97962"/>
            </a:avLst>
          </a:prstGeom>
          <a:solidFill>
            <a:srgbClr val="DA1B2E"/>
          </a:solidFill>
          <a:ln/>
        </p:spPr>
      </p:sp>
      <p:sp>
        <p:nvSpPr>
          <p:cNvPr id="13" name="Text 10"/>
          <p:cNvSpPr/>
          <p:nvPr/>
        </p:nvSpPr>
        <p:spPr>
          <a:xfrm>
            <a:off x="5356547" y="2895228"/>
            <a:ext cx="1753865" cy="219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28.7%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356547" y="3245644"/>
            <a:ext cx="3178076" cy="211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Avg Month-3 Retention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166122" y="3735958"/>
            <a:ext cx="3516064" cy="857101"/>
          </a:xfrm>
          <a:prstGeom prst="roundRect">
            <a:avLst>
              <a:gd name="adj" fmla="val 8001"/>
            </a:avLst>
          </a:prstGeom>
          <a:solidFill>
            <a:srgbClr val="FFFFFF"/>
          </a:solidFill>
          <a:ln w="14288">
            <a:solidFill>
              <a:srgbClr val="DFB8B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151834" y="3735958"/>
            <a:ext cx="57150" cy="857101"/>
          </a:xfrm>
          <a:prstGeom prst="roundRect">
            <a:avLst>
              <a:gd name="adj" fmla="val 97962"/>
            </a:avLst>
          </a:prstGeom>
          <a:solidFill>
            <a:srgbClr val="DA1B2E"/>
          </a:solidFill>
          <a:ln/>
        </p:spPr>
      </p:sp>
      <p:sp>
        <p:nvSpPr>
          <p:cNvPr id="17" name="Text 14"/>
          <p:cNvSpPr/>
          <p:nvPr/>
        </p:nvSpPr>
        <p:spPr>
          <a:xfrm>
            <a:off x="5356547" y="3883521"/>
            <a:ext cx="1753865" cy="219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18.2%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5356547" y="4233937"/>
            <a:ext cx="3178076" cy="211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Avg Month-6 Retention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3943" y="408459"/>
            <a:ext cx="1658615" cy="263947"/>
          </a:xfrm>
          <a:prstGeom prst="roundRect">
            <a:avLst>
              <a:gd name="adj" fmla="val 17238"/>
            </a:avLst>
          </a:prstGeom>
          <a:noFill/>
          <a:ln w="4763">
            <a:solidFill>
              <a:srgbClr val="DA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9891" y="453777"/>
            <a:ext cx="1943919" cy="173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DA1B2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MARKET BASKET 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3943" y="726504"/>
            <a:ext cx="4318769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Product Association Rules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943" y="1438201"/>
            <a:ext cx="4785494" cy="314444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94598" y="1421234"/>
            <a:ext cx="22388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594598" y="1779240"/>
            <a:ext cx="3080147" cy="1394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0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Coffee Maker → Coffee Beans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has the highest lift at 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0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3.87x</a:t>
            </a:r>
            <a:endParaRPr lang="en-US" sz="10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0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Smartphone → Phone Case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leads in support at 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0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19.8%</a:t>
            </a:r>
            <a:endParaRPr lang="en-US" sz="10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0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Camera → Memory Card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leads in confidence at 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0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88%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3943" y="484882"/>
            <a:ext cx="1658615" cy="263947"/>
          </a:xfrm>
          <a:prstGeom prst="roundRect">
            <a:avLst>
              <a:gd name="adj" fmla="val 17238"/>
            </a:avLst>
          </a:prstGeom>
          <a:noFill/>
          <a:ln w="4763">
            <a:solidFill>
              <a:srgbClr val="DA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9891" y="530200"/>
            <a:ext cx="1943919" cy="173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DA1B2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MARKET BASKET 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3943" y="802928"/>
            <a:ext cx="3966195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Category Affinity Matrix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73943" y="1497657"/>
            <a:ext cx="22388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What It Shows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3943" y="1855663"/>
            <a:ext cx="3506465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Correlation strength between product categories — reveals which categories are frequently purchased together to guide bundling and cross-sell strategies.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3943" y="2874764"/>
            <a:ext cx="3506465" cy="1225376"/>
          </a:xfrm>
          <a:prstGeom prst="roundRect">
            <a:avLst>
              <a:gd name="adj" fmla="val 4641"/>
            </a:avLst>
          </a:prstGeom>
          <a:solidFill>
            <a:srgbClr val="B6D6F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302" y="3077840"/>
            <a:ext cx="169218" cy="13535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3879" y="3043907"/>
            <a:ext cx="2931170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Top Affinity: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Clothing 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↔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Sports (0.61) and Electronics 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↔</a:t>
            </a:r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Sports (0.42) show the strongest cross-category purchase patterns.</a:t>
            </a:r>
            <a:endParaRPr lang="en-US" sz="10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569" y="1514624"/>
            <a:ext cx="4359176" cy="29916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7406" y="288280"/>
            <a:ext cx="493365" cy="174873"/>
          </a:xfrm>
          <a:prstGeom prst="roundRect">
            <a:avLst>
              <a:gd name="adj" fmla="val 18701"/>
            </a:avLst>
          </a:prstGeom>
          <a:noFill/>
          <a:ln w="4763">
            <a:solidFill>
              <a:srgbClr val="DA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0510" y="322213"/>
            <a:ext cx="824359" cy="107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DA1B2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REPORTS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1037406" y="491133"/>
            <a:ext cx="2506191" cy="25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Reports &amp; Exports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37406" y="922139"/>
            <a:ext cx="1737792" cy="160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Active Reports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37406" y="1160859"/>
            <a:ext cx="3415829" cy="586904"/>
          </a:xfrm>
          <a:prstGeom prst="roundRect">
            <a:avLst>
              <a:gd name="adj" fmla="val 6965"/>
            </a:avLst>
          </a:prstGeom>
          <a:solidFill>
            <a:srgbClr val="FFFFFF"/>
          </a:solidFill>
          <a:ln w="14288">
            <a:solidFill>
              <a:srgbClr val="DFB8B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694" y="1175147"/>
            <a:ext cx="389260" cy="558329"/>
          </a:xfrm>
          <a:prstGeom prst="roundRect">
            <a:avLst>
              <a:gd name="adj" fmla="val 6097"/>
            </a:avLst>
          </a:prstGeom>
          <a:solidFill>
            <a:srgbClr val="F9D2D6"/>
          </a:solidFill>
          <a:ln/>
        </p:spPr>
      </p:sp>
      <p:sp>
        <p:nvSpPr>
          <p:cNvPr id="8" name="Text 6"/>
          <p:cNvSpPr/>
          <p:nvPr/>
        </p:nvSpPr>
        <p:spPr>
          <a:xfrm>
            <a:off x="1170980" y="1363042"/>
            <a:ext cx="145926" cy="182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10903" y="1272406"/>
            <a:ext cx="1287140" cy="160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10903" y="1502420"/>
            <a:ext cx="2830785" cy="133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KPIs, revenue trends, customer metrics — Last: Dec 15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037406" y="1817712"/>
            <a:ext cx="3415829" cy="720700"/>
          </a:xfrm>
          <a:prstGeom prst="roundRect">
            <a:avLst>
              <a:gd name="adj" fmla="val 5672"/>
            </a:avLst>
          </a:prstGeom>
          <a:solidFill>
            <a:srgbClr val="FFFFFF"/>
          </a:solidFill>
          <a:ln w="14288">
            <a:solidFill>
              <a:srgbClr val="DFB8B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1694" y="1832000"/>
            <a:ext cx="389260" cy="692125"/>
          </a:xfrm>
          <a:prstGeom prst="roundRect">
            <a:avLst>
              <a:gd name="adj" fmla="val 6097"/>
            </a:avLst>
          </a:prstGeom>
          <a:solidFill>
            <a:srgbClr val="F9D2D6"/>
          </a:solidFill>
          <a:ln/>
        </p:spPr>
      </p:sp>
      <p:sp>
        <p:nvSpPr>
          <p:cNvPr id="13" name="Text 11"/>
          <p:cNvSpPr/>
          <p:nvPr/>
        </p:nvSpPr>
        <p:spPr>
          <a:xfrm>
            <a:off x="1170980" y="2086794"/>
            <a:ext cx="145926" cy="182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10903" y="1929259"/>
            <a:ext cx="1280592" cy="160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RFM Segmentation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10903" y="2159273"/>
            <a:ext cx="2830785" cy="267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All 8 segments with RFM scoring and actions — Last: Dec 15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037406" y="2608362"/>
            <a:ext cx="3415829" cy="720700"/>
          </a:xfrm>
          <a:prstGeom prst="roundRect">
            <a:avLst>
              <a:gd name="adj" fmla="val 5672"/>
            </a:avLst>
          </a:prstGeom>
          <a:solidFill>
            <a:srgbClr val="FFFFFF"/>
          </a:solidFill>
          <a:ln w="14288">
            <a:solidFill>
              <a:srgbClr val="DFB8B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694" y="2622649"/>
            <a:ext cx="389260" cy="692125"/>
          </a:xfrm>
          <a:prstGeom prst="roundRect">
            <a:avLst>
              <a:gd name="adj" fmla="val 6097"/>
            </a:avLst>
          </a:prstGeom>
          <a:solidFill>
            <a:srgbClr val="F9D2D6"/>
          </a:solidFill>
          <a:ln/>
        </p:spPr>
      </p:sp>
      <p:sp>
        <p:nvSpPr>
          <p:cNvPr id="18" name="Text 16"/>
          <p:cNvSpPr/>
          <p:nvPr/>
        </p:nvSpPr>
        <p:spPr>
          <a:xfrm>
            <a:off x="1170980" y="2877443"/>
            <a:ext cx="145926" cy="182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10903" y="2719908"/>
            <a:ext cx="1335509" cy="160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Customer Retention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510903" y="2949922"/>
            <a:ext cx="2830785" cy="267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Cohort-based month-over-month return rates — Last: Dec 10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037406" y="3399011"/>
            <a:ext cx="3415829" cy="720700"/>
          </a:xfrm>
          <a:prstGeom prst="roundRect">
            <a:avLst>
              <a:gd name="adj" fmla="val 5672"/>
            </a:avLst>
          </a:prstGeom>
          <a:solidFill>
            <a:srgbClr val="FFFFFF"/>
          </a:solidFill>
          <a:ln w="14288">
            <a:solidFill>
              <a:srgbClr val="DFB8B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51694" y="3413299"/>
            <a:ext cx="389260" cy="692125"/>
          </a:xfrm>
          <a:prstGeom prst="roundRect">
            <a:avLst>
              <a:gd name="adj" fmla="val 6097"/>
            </a:avLst>
          </a:prstGeom>
          <a:solidFill>
            <a:srgbClr val="F9D2D6"/>
          </a:solidFill>
          <a:ln/>
        </p:spPr>
      </p:sp>
      <p:sp>
        <p:nvSpPr>
          <p:cNvPr id="23" name="Text 21"/>
          <p:cNvSpPr/>
          <p:nvPr/>
        </p:nvSpPr>
        <p:spPr>
          <a:xfrm>
            <a:off x="1170980" y="3668092"/>
            <a:ext cx="145926" cy="182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510903" y="3510558"/>
            <a:ext cx="1280592" cy="160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Revenue Analysis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510903" y="3740572"/>
            <a:ext cx="2830785" cy="267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Revenue by category, segment, product with YoY — Last: Dec 12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037406" y="4189661"/>
            <a:ext cx="3415829" cy="586904"/>
          </a:xfrm>
          <a:prstGeom prst="roundRect">
            <a:avLst>
              <a:gd name="adj" fmla="val 6965"/>
            </a:avLst>
          </a:prstGeom>
          <a:solidFill>
            <a:srgbClr val="FFFFFF"/>
          </a:solidFill>
          <a:ln w="14288">
            <a:solidFill>
              <a:srgbClr val="DFB8B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51694" y="4203948"/>
            <a:ext cx="389260" cy="558329"/>
          </a:xfrm>
          <a:prstGeom prst="roundRect">
            <a:avLst>
              <a:gd name="adj" fmla="val 6097"/>
            </a:avLst>
          </a:prstGeom>
          <a:solidFill>
            <a:srgbClr val="F9D2D6"/>
          </a:solidFill>
          <a:ln/>
        </p:spPr>
      </p:sp>
      <p:sp>
        <p:nvSpPr>
          <p:cNvPr id="28" name="Text 26"/>
          <p:cNvSpPr/>
          <p:nvPr/>
        </p:nvSpPr>
        <p:spPr>
          <a:xfrm>
            <a:off x="1170980" y="4391844"/>
            <a:ext cx="145926" cy="182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510903" y="4301207"/>
            <a:ext cx="1280592" cy="160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Market Basket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510903" y="4531221"/>
            <a:ext cx="2830785" cy="133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Association rates and cross-sell matrix — Last: Dec 11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695379" y="922139"/>
            <a:ext cx="1737792" cy="160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Scheduled Reports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95379" y="1160859"/>
            <a:ext cx="3415829" cy="918567"/>
          </a:xfrm>
          <a:prstGeom prst="roundRect">
            <a:avLst>
              <a:gd name="adj" fmla="val 4450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00141" y="1165622"/>
            <a:ext cx="3406304" cy="2272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797475" y="1212354"/>
            <a:ext cx="1622822" cy="133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Report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162377" y="1212354"/>
            <a:ext cx="1279773" cy="133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Frequency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7184231" y="1212354"/>
            <a:ext cx="1282154" cy="133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Status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700141" y="1392882"/>
            <a:ext cx="3406304" cy="22726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797475" y="1439614"/>
            <a:ext cx="1622822" cy="133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Executive Summary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162377" y="1439614"/>
            <a:ext cx="1279773" cy="133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Weekly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7184231" y="1439614"/>
            <a:ext cx="1282154" cy="133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Active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700141" y="1620143"/>
            <a:ext cx="3406304" cy="2272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797475" y="1666875"/>
            <a:ext cx="1622822" cy="133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RFM Segmentation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162377" y="1666875"/>
            <a:ext cx="1279773" cy="133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Monthly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7184231" y="1666875"/>
            <a:ext cx="1282154" cy="133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Active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700141" y="1847404"/>
            <a:ext cx="3406304" cy="22726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4797475" y="1894136"/>
            <a:ext cx="1622822" cy="133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Revenue Analysis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6162377" y="1894136"/>
            <a:ext cx="1279773" cy="133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Quarterly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7184231" y="1894136"/>
            <a:ext cx="1282154" cy="133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Pending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3943" y="1381944"/>
            <a:ext cx="730597" cy="263947"/>
          </a:xfrm>
          <a:prstGeom prst="roundRect">
            <a:avLst>
              <a:gd name="adj" fmla="val 17238"/>
            </a:avLst>
          </a:prstGeom>
          <a:noFill/>
          <a:ln w="4763">
            <a:solidFill>
              <a:srgbClr val="DA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9891" y="1427262"/>
            <a:ext cx="1015901" cy="173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DA1B2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SETTINGS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3943" y="1699989"/>
            <a:ext cx="3308003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Platform Settings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73943" y="2394719"/>
            <a:ext cx="2482379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Profile &amp; Notifications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3943" y="2752725"/>
            <a:ext cx="3932858" cy="961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Email notifications, segment alerts, revenue alerts</a:t>
            </a:r>
            <a:endParaRPr lang="en-US" sz="10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Weekly digest and system update alerts</a:t>
            </a:r>
            <a:endParaRPr lang="en-US" sz="10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Recent: At Risk segment up 8.3%, Champions revenue up 15.2%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41962" y="2394719"/>
            <a:ext cx="22388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F1E1E"/>
                </a:solidFill>
                <a:latin typeface="Sora SemiBold" pitchFamily="34" charset="0"/>
                <a:ea typeface="Sora SemiBold" pitchFamily="34" charset="-122"/>
                <a:cs typeface="Sora SemiBold" pitchFamily="34" charset="-120"/>
              </a:rPr>
              <a:t>Display &amp; Data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41962" y="2752725"/>
            <a:ext cx="3932858" cy="744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Dark mode, compact sidebar, animated charts</a:t>
            </a:r>
            <a:endParaRPr lang="en-US" sz="10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AI insights toggle</a:t>
            </a:r>
            <a:endParaRPr lang="en-US" sz="10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Auto-refresh every 30 minutes with cache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2026-05-23T13:48:36Z</dcterms:created>
  <dcterms:modified xsi:type="dcterms:W3CDTF">2026-05-23T13:48:36Z</dcterms:modified>
</cp:coreProperties>
</file>